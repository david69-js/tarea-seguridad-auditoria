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8" r:id="rId1"/>
  </p:sldMasterIdLst>
  <p:sldIdLst>
    <p:sldId id="256" r:id="rId2"/>
    <p:sldId id="259" r:id="rId3"/>
    <p:sldId id="260" r:id="rId4"/>
    <p:sldId id="261" r:id="rId5"/>
    <p:sldId id="280" r:id="rId6"/>
    <p:sldId id="281" r:id="rId7"/>
    <p:sldId id="285" r:id="rId8"/>
    <p:sldId id="264" r:id="rId9"/>
    <p:sldId id="265" r:id="rId10"/>
    <p:sldId id="282" r:id="rId11"/>
    <p:sldId id="283" r:id="rId12"/>
    <p:sldId id="284" r:id="rId13"/>
    <p:sldId id="271" r:id="rId14"/>
    <p:sldId id="263" r:id="rId15"/>
    <p:sldId id="276" r:id="rId16"/>
    <p:sldId id="27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166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06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56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79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354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3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51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D525BB-DA17-4BA0-B3C8-3AC3ABC827E6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587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56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7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407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86D0F-4EA6-4F6D-B97E-93CA3DE33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305" y="3428998"/>
            <a:ext cx="7442421" cy="1890425"/>
          </a:xfrm>
        </p:spPr>
        <p:txBody>
          <a:bodyPr>
            <a:normAutofit fontScale="90000"/>
          </a:bodyPr>
          <a:lstStyle/>
          <a:p>
            <a:r>
              <a:rPr lang="es-GT" dirty="0"/>
              <a:t>Errores del Sistema</a:t>
            </a:r>
            <a:br>
              <a:rPr lang="es-GT" dirty="0"/>
            </a:b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E89458-A833-4326-BFFB-ED6A28BE78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GT" dirty="0"/>
              <a:t>Clase 7</a:t>
            </a:r>
          </a:p>
          <a:p>
            <a:r>
              <a:rPr lang="es-GT" dirty="0"/>
              <a:t>Ing. </a:t>
            </a:r>
            <a:r>
              <a:rPr lang="es-GT" dirty="0" err="1"/>
              <a:t>Victor</a:t>
            </a:r>
            <a:r>
              <a:rPr lang="es-GT" dirty="0"/>
              <a:t> David Gutiérrez Reyes</a:t>
            </a:r>
          </a:p>
        </p:txBody>
      </p:sp>
    </p:spTree>
    <p:extLst>
      <p:ext uri="{BB962C8B-B14F-4D97-AF65-F5344CB8AC3E}">
        <p14:creationId xmlns:p14="http://schemas.microsoft.com/office/powerpoint/2010/main" val="68739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F4C78-A613-46A3-B11A-C84F8F69D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02000"/>
              </a:lnSpc>
              <a:spcAft>
                <a:spcPts val="1000"/>
              </a:spcAft>
              <a:tabLst>
                <a:tab pos="457200" algn="l"/>
                <a:tab pos="630555" algn="l"/>
              </a:tabLst>
            </a:pPr>
            <a:r>
              <a:rPr lang="es-GT" sz="2400" b="1" dirty="0">
                <a:effectLst/>
                <a:latin typeface="Calibri" panose="020F0502020204030204" pitchFamily="34" charset="0"/>
                <a:ea typeface="Rockwell" panose="02060603020205020403" pitchFamily="18" charset="0"/>
                <a:cs typeface="Noto Sans Symbols"/>
              </a:rPr>
              <a:t>Error</a:t>
            </a:r>
            <a:endParaRPr lang="es-GT" sz="2400" b="1" dirty="0">
              <a:effectLst/>
              <a:latin typeface="Noto Sans Symbols"/>
              <a:ea typeface="Noto Sans Symbols"/>
              <a:cs typeface="Noto Sans Symbol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F33B6E-6028-46F3-84B7-347FE4752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190" y="2052116"/>
            <a:ext cx="8804949" cy="37125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Equivocación por parte del programador</a:t>
            </a:r>
            <a:endParaRPr lang="es-GT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BE1F15C-E407-4C32-8AE8-848E6A03C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253" y="2736222"/>
            <a:ext cx="5091493" cy="308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8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57C06EC-1EE6-4252-A4F3-FFA7BBE918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1608" y="1227559"/>
            <a:ext cx="9329736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GT" altLang="es-GT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D</a:t>
            </a:r>
            <a:r>
              <a:rPr lang="es-GT" altLang="es-GT" sz="3200" b="1" dirty="0">
                <a:solidFill>
                  <a:schemeClr val="tx1"/>
                </a:solidFill>
                <a:latin typeface="Google Sans"/>
              </a:rPr>
              <a:t>efecto</a:t>
            </a:r>
            <a:endParaRPr kumimoji="0" lang="es-GT" altLang="es-GT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GT" altLang="es-GT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GT" altLang="es-GT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Diferencia entre el valor esperado  y el obtenido</a:t>
            </a:r>
            <a:endParaRPr kumimoji="0" lang="es-GT" altLang="es-GT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icono de concepto de defectos y expertos en calidad. ilustración de línea  delgada de idea de">
            <a:extLst>
              <a:ext uri="{FF2B5EF4-FFF2-40B4-BE49-F238E27FC236}">
                <a16:creationId xmlns:a16="http://schemas.microsoft.com/office/drawing/2014/main" id="{A05C9D3B-019D-4351-99D9-8E4151E95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83"/>
          <a:stretch/>
        </p:blipFill>
        <p:spPr bwMode="auto">
          <a:xfrm>
            <a:off x="3660912" y="2709350"/>
            <a:ext cx="3956437" cy="293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84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AE8966-3A46-4396-8F75-A6A933A2E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208" y="1216278"/>
            <a:ext cx="89372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Fallas</a:t>
            </a: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80644F-3BCF-495C-A8E2-8548A010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2208" y="2197079"/>
            <a:ext cx="93297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s-GT" altLang="es-G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presentado después de desplegado el software</a:t>
            </a:r>
            <a:endParaRPr lang="es-GT" altLang="es-GT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🔍💡 Descubre la clave para identificar problemas en tu aplicación: la  terminología esencial. Error, defecto y falla son términos que marcan la  diferencia en el mundo del desarrollo de software. ¡Conócelos y">
            <a:extLst>
              <a:ext uri="{FF2B5EF4-FFF2-40B4-BE49-F238E27FC236}">
                <a16:creationId xmlns:a16="http://schemas.microsoft.com/office/drawing/2014/main" id="{32BEC248-134D-451F-85C2-D3E63AA9A3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8" t="32025" b="12136"/>
          <a:stretch/>
        </p:blipFill>
        <p:spPr bwMode="auto">
          <a:xfrm>
            <a:off x="3546283" y="2798859"/>
            <a:ext cx="4707172" cy="274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42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AE8966-3A46-4396-8F75-A6A933A2E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208" y="1216278"/>
            <a:ext cx="89372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Bug</a:t>
            </a: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80644F-3BCF-495C-A8E2-8548A010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939" y="2205030"/>
            <a:ext cx="932973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None/>
            </a:pPr>
            <a:r>
              <a:rPr lang="es-GT" altLang="es-GT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Inconsistencia del software encontrada en la etapa de pruebas</a:t>
            </a:r>
            <a:endParaRPr lang="es-GT" altLang="es-GT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170" name="Picture 2" descr="Bug-repair system learns from example | MIT News | Massachusetts Institute  of Technology">
            <a:extLst>
              <a:ext uri="{FF2B5EF4-FFF2-40B4-BE49-F238E27FC236}">
                <a16:creationId xmlns:a16="http://schemas.microsoft.com/office/drawing/2014/main" id="{2C2BFBB4-406F-4270-A0CD-9F2E57406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342" y="2647120"/>
            <a:ext cx="5447141" cy="363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24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AE8966-3A46-4396-8F75-A6A933A2E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2208" y="1216278"/>
            <a:ext cx="893726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Niveles de pruebas</a:t>
            </a:r>
            <a:endParaRPr kumimoji="0" lang="es-GT" altLang="es-G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280644F-3BCF-495C-A8E2-8548A0103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744" y="2074783"/>
            <a:ext cx="9613127" cy="2708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r>
              <a:rPr lang="es-GT" altLang="es-G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Unidad: 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Componentes individuales o módulos, Detección de errores lógicos, algoritmos, datos, desarrollador</a:t>
            </a:r>
          </a:p>
          <a:p>
            <a:pPr marL="34290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r>
              <a:rPr lang="es-GT" altLang="es-G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Integración: 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grupos de componentes, Probar las relaciones e interacciones, Desarrollador –</a:t>
            </a:r>
            <a:r>
              <a:rPr lang="es-GT" altLang="es-GT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marL="34290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r>
              <a:rPr lang="es-GT" altLang="es-G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Sistema: 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el sistema como un todo, Errores a nivel de requisitos (Funcionales y no funcionales).</a:t>
            </a:r>
          </a:p>
          <a:p>
            <a:pPr marL="34290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r>
              <a:rPr lang="es-GT" altLang="es-G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Aceptación: 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que el sistema esta listo para su entrega, Usuario/Cliente/-Analista-</a:t>
            </a:r>
            <a:r>
              <a:rPr lang="es-GT" altLang="es-GT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Tester</a:t>
            </a:r>
            <a:r>
              <a:rPr lang="es-GT" altLang="es-GT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,similares a las de Sistema. ALFA(persona de la organización)-BETA (Personas seleccionadas fuera de la empresa).</a:t>
            </a:r>
          </a:p>
          <a:p>
            <a:pPr marL="34290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endParaRPr lang="es-GT" altLang="es-GT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727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44EE9-BC5A-4753-A62D-0E10379B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BC30C8-EC98-4768-AB49-EAA98366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EC5ACF-9A71-4AA5-9976-1E81D0F12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7" t="29214" r="12400" b="10644"/>
          <a:stretch/>
        </p:blipFill>
        <p:spPr bwMode="auto">
          <a:xfrm>
            <a:off x="2719346" y="403284"/>
            <a:ext cx="5923722" cy="588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01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65B3B-523F-4170-96EF-242D11B9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Casos de prueba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31E249-626A-4A11-B4D2-6131C767C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450757"/>
          </a:xfrm>
        </p:spPr>
        <p:txBody>
          <a:bodyPr/>
          <a:lstStyle/>
          <a:p>
            <a:pPr algn="just"/>
            <a:r>
              <a:rPr lang="es-GT" dirty="0">
                <a:latin typeface="Arial" panose="020B0604020202020204" pitchFamily="34" charset="0"/>
                <a:cs typeface="Arial" panose="020B0604020202020204" pitchFamily="34" charset="0"/>
              </a:rPr>
              <a:t>Es un conjunto de datos de entrada y de resultados esperados que se ingresan a un componente de software con el objetivo de causar fallas y detectar errores.</a:t>
            </a:r>
          </a:p>
        </p:txBody>
      </p:sp>
      <p:pic>
        <p:nvPicPr>
          <p:cNvPr id="8194" name="Picture 2" descr="Cómo redactar casos de prueba: Guía completa de QAwerk | QAwerk">
            <a:extLst>
              <a:ext uri="{FF2B5EF4-FFF2-40B4-BE49-F238E27FC236}">
                <a16:creationId xmlns:a16="http://schemas.microsoft.com/office/drawing/2014/main" id="{48AFE20A-3B2B-4075-B6A5-EED6F5BE5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885" y="2571112"/>
            <a:ext cx="6154310" cy="346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20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D2F26-F555-41DE-8411-3A18D6F4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Proceso de Pruebas 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5EB7C78-F56E-430F-81A2-E799D8DEF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45065"/>
            <a:ext cx="10058400" cy="197391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s-GT" sz="3200" dirty="0">
                <a:latin typeface="Arial" panose="020B0604020202020204" pitchFamily="34" charset="0"/>
                <a:cs typeface="Arial" panose="020B0604020202020204" pitchFamily="34" charset="0"/>
              </a:rPr>
              <a:t>1. Planeación</a:t>
            </a:r>
          </a:p>
          <a:p>
            <a:pPr algn="just"/>
            <a:r>
              <a:rPr lang="es-GT" sz="3200" dirty="0">
                <a:latin typeface="Arial" panose="020B0604020202020204" pitchFamily="34" charset="0"/>
                <a:cs typeface="Arial" panose="020B0604020202020204" pitchFamily="34" charset="0"/>
              </a:rPr>
              <a:t>2. Análisis y diseños</a:t>
            </a:r>
          </a:p>
          <a:p>
            <a:pPr algn="just"/>
            <a:r>
              <a:rPr lang="es-GT" sz="3200" dirty="0">
                <a:latin typeface="Arial" panose="020B0604020202020204" pitchFamily="34" charset="0"/>
                <a:cs typeface="Arial" panose="020B0604020202020204" pitchFamily="34" charset="0"/>
              </a:rPr>
              <a:t>3. Implementación y Ejecución</a:t>
            </a:r>
          </a:p>
          <a:p>
            <a:pPr algn="just"/>
            <a:r>
              <a:rPr lang="es-GT" sz="3200" dirty="0">
                <a:latin typeface="Arial" panose="020B0604020202020204" pitchFamily="34" charset="0"/>
                <a:cs typeface="Arial" panose="020B0604020202020204" pitchFamily="34" charset="0"/>
              </a:rPr>
              <a:t>4. Evaluación y Reporte</a:t>
            </a:r>
          </a:p>
          <a:p>
            <a:pPr algn="just"/>
            <a:r>
              <a:rPr lang="es-GT" sz="3200" dirty="0">
                <a:latin typeface="Arial" panose="020B0604020202020204" pitchFamily="34" charset="0"/>
                <a:cs typeface="Arial" panose="020B0604020202020204" pitchFamily="34" charset="0"/>
              </a:rPr>
              <a:t>5. Cierre</a:t>
            </a:r>
          </a:p>
        </p:txBody>
      </p:sp>
    </p:spTree>
    <p:extLst>
      <p:ext uri="{BB962C8B-B14F-4D97-AF65-F5344CB8AC3E}">
        <p14:creationId xmlns:p14="http://schemas.microsoft.com/office/powerpoint/2010/main" val="1661696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D7CCA9-D35B-40BB-B9C6-FE7D590C3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Casos de Prueba</a:t>
            </a:r>
          </a:p>
        </p:txBody>
      </p:sp>
      <p:graphicFrame>
        <p:nvGraphicFramePr>
          <p:cNvPr id="9" name="Tabla 9">
            <a:extLst>
              <a:ext uri="{FF2B5EF4-FFF2-40B4-BE49-F238E27FC236}">
                <a16:creationId xmlns:a16="http://schemas.microsoft.com/office/drawing/2014/main" id="{DAD245C4-776B-459C-AF44-6B93C8813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769001"/>
              </p:ext>
            </p:extLst>
          </p:nvPr>
        </p:nvGraphicFramePr>
        <p:xfrm>
          <a:off x="1096963" y="1846262"/>
          <a:ext cx="997125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876">
                  <a:extLst>
                    <a:ext uri="{9D8B030D-6E8A-4147-A177-3AD203B41FA5}">
                      <a16:colId xmlns:a16="http://schemas.microsoft.com/office/drawing/2014/main" val="265102431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653155834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91470232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017279899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592685721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3256381780"/>
                    </a:ext>
                  </a:extLst>
                </a:gridCol>
              </a:tblGrid>
              <a:tr h="483470">
                <a:tc>
                  <a:txBody>
                    <a:bodyPr/>
                    <a:lstStyle/>
                    <a:p>
                      <a:r>
                        <a:rPr lang="es-GT" dirty="0"/>
                        <a:t>ID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DESCRPCIÓN/</a:t>
                      </a:r>
                    </a:p>
                    <a:p>
                      <a:r>
                        <a:rPr lang="es-GT" dirty="0"/>
                        <a:t>ESCENARIO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CONDICIÓN PREVIA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PASOS DE EJECUCÍÓN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RESULTADO ESPERADO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TIPOS DE PRUEBA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38008"/>
                  </a:ext>
                </a:extLst>
              </a:tr>
              <a:tr h="1899582">
                <a:tc>
                  <a:txBody>
                    <a:bodyPr/>
                    <a:lstStyle/>
                    <a:p>
                      <a:r>
                        <a:rPr lang="es-GT" dirty="0"/>
                        <a:t>CP-LOGIN-001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Inicio de sesión exitoso con credenciales correctas.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usuario está registrado en la base de datos.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 Ir a la página de </a:t>
                      </a:r>
                      <a:r>
                        <a:rPr lang="es-ES" dirty="0" err="1"/>
                        <a:t>login</a:t>
                      </a:r>
                      <a:r>
                        <a:rPr lang="es-ES" dirty="0"/>
                        <a:t>.</a:t>
                      </a:r>
                      <a:br>
                        <a:rPr lang="es-ES" dirty="0"/>
                      </a:br>
                      <a:r>
                        <a:rPr lang="es-ES" dirty="0"/>
                        <a:t>2. Ingresar correo válido.</a:t>
                      </a:r>
                      <a:br>
                        <a:rPr lang="es-ES" dirty="0"/>
                      </a:br>
                      <a:r>
                        <a:rPr lang="es-ES" dirty="0"/>
                        <a:t>3. Ingresar contraseña válida.</a:t>
                      </a:r>
                      <a:br>
                        <a:rPr lang="es-ES" dirty="0"/>
                      </a:br>
                      <a:r>
                        <a:rPr lang="es-ES" dirty="0"/>
                        <a:t>4. Hacer clic en "Entrar".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sistema redirige al usuario a la pantalla de bienvenida / panel principal.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Positiva (Ruta ideal)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69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505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0F704-00FD-4750-BAFF-D7548A960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E4CB57-A919-4A6B-B363-F7143478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/>
          </a:p>
        </p:txBody>
      </p:sp>
      <p:graphicFrame>
        <p:nvGraphicFramePr>
          <p:cNvPr id="4" name="Tabla 9">
            <a:extLst>
              <a:ext uri="{FF2B5EF4-FFF2-40B4-BE49-F238E27FC236}">
                <a16:creationId xmlns:a16="http://schemas.microsoft.com/office/drawing/2014/main" id="{1700FAD6-B7CF-4C48-8AFD-C53104D6B4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024011"/>
              </p:ext>
            </p:extLst>
          </p:nvPr>
        </p:nvGraphicFramePr>
        <p:xfrm>
          <a:off x="1096963" y="1846262"/>
          <a:ext cx="997125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876">
                  <a:extLst>
                    <a:ext uri="{9D8B030D-6E8A-4147-A177-3AD203B41FA5}">
                      <a16:colId xmlns:a16="http://schemas.microsoft.com/office/drawing/2014/main" val="265102431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653155834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91470232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017279899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592685721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3256381780"/>
                    </a:ext>
                  </a:extLst>
                </a:gridCol>
              </a:tblGrid>
              <a:tr h="483470">
                <a:tc>
                  <a:txBody>
                    <a:bodyPr/>
                    <a:lstStyle/>
                    <a:p>
                      <a:r>
                        <a:rPr lang="es-GT" dirty="0"/>
                        <a:t>ID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DESCRPCIÓN/</a:t>
                      </a:r>
                    </a:p>
                    <a:p>
                      <a:r>
                        <a:rPr lang="es-GT" dirty="0"/>
                        <a:t>ESCENARIO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CONDICIÓN PREVIA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PASOS DE EJECUCÍÓN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RESULTADO ESPERADO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TIPOS DE PRUEBA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38008"/>
                  </a:ext>
                </a:extLst>
              </a:tr>
              <a:tr h="1607800">
                <a:tc>
                  <a:txBody>
                    <a:bodyPr/>
                    <a:lstStyle/>
                    <a:p>
                      <a:r>
                        <a:rPr lang="es-GT" dirty="0"/>
                        <a:t>CP-LOGIN-002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Fallo por contraseña incorrecta.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usuario está registrado en el sistema..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 Ir a la página de </a:t>
                      </a:r>
                      <a:r>
                        <a:rPr lang="es-ES" dirty="0" err="1"/>
                        <a:t>login</a:t>
                      </a:r>
                      <a:r>
                        <a:rPr lang="es-ES" dirty="0"/>
                        <a:t>.</a:t>
                      </a:r>
                      <a:br>
                        <a:rPr lang="es-ES" dirty="0"/>
                      </a:br>
                      <a:r>
                        <a:rPr lang="es-ES" dirty="0"/>
                        <a:t>2. Ingresar correo válido.</a:t>
                      </a:r>
                      <a:br>
                        <a:rPr lang="es-ES" dirty="0"/>
                      </a:br>
                      <a:r>
                        <a:rPr lang="es-ES" dirty="0"/>
                        <a:t>3. Ingresar contraseña errónea.</a:t>
                      </a:r>
                      <a:br>
                        <a:rPr lang="es-ES" dirty="0"/>
                      </a:br>
                      <a:r>
                        <a:rPr lang="es-ES" dirty="0"/>
                        <a:t>4. Hacer clic en "Entrar".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sistema muestra el mensaje de error: "Credenciales inválidas" y no permite el acceso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Negativa(Error)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69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652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9CCC9-C182-45DC-9C54-5F911A10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3BBD9A-6F48-48A4-8207-75FF52D0A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GT" dirty="0"/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5A3F9FDE-E20D-4827-95DA-F5E0329E45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6920345"/>
              </p:ext>
            </p:extLst>
          </p:nvPr>
        </p:nvGraphicFramePr>
        <p:xfrm>
          <a:off x="1096963" y="1846262"/>
          <a:ext cx="997125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876">
                  <a:extLst>
                    <a:ext uri="{9D8B030D-6E8A-4147-A177-3AD203B41FA5}">
                      <a16:colId xmlns:a16="http://schemas.microsoft.com/office/drawing/2014/main" val="265102431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653155834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914702326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017279899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2592685721"/>
                    </a:ext>
                  </a:extLst>
                </a:gridCol>
                <a:gridCol w="1661876">
                  <a:extLst>
                    <a:ext uri="{9D8B030D-6E8A-4147-A177-3AD203B41FA5}">
                      <a16:colId xmlns:a16="http://schemas.microsoft.com/office/drawing/2014/main" val="3256381780"/>
                    </a:ext>
                  </a:extLst>
                </a:gridCol>
              </a:tblGrid>
              <a:tr h="483470">
                <a:tc>
                  <a:txBody>
                    <a:bodyPr/>
                    <a:lstStyle/>
                    <a:p>
                      <a:r>
                        <a:rPr lang="es-GT" dirty="0"/>
                        <a:t>ID CASO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DESCRPCIÓN/</a:t>
                      </a:r>
                    </a:p>
                    <a:p>
                      <a:r>
                        <a:rPr lang="es-GT" dirty="0"/>
                        <a:t>ESCENARIO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CONDICIÓN PREVIA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PASOS DE EJECUCÍÓN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RESULTADO ESPERADO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TIPOS DE PRUEBA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38008"/>
                  </a:ext>
                </a:extLst>
              </a:tr>
              <a:tr h="1607800">
                <a:tc>
                  <a:txBody>
                    <a:bodyPr/>
                    <a:lstStyle/>
                    <a:p>
                      <a:r>
                        <a:rPr lang="es-GT" dirty="0"/>
                        <a:t>CP-LOGIN-003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Validación de campos vacíos.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Estar en la pantalla de </a:t>
                      </a:r>
                      <a:r>
                        <a:rPr lang="es-ES" dirty="0" err="1"/>
                        <a:t>login</a:t>
                      </a:r>
                      <a:r>
                        <a:rPr lang="es-ES" dirty="0"/>
                        <a:t>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1. Dejar los campos de correo y contraseña en blanco.</a:t>
                      </a:r>
                      <a:br>
                        <a:rPr lang="es-ES" dirty="0"/>
                      </a:br>
                      <a:r>
                        <a:rPr lang="es-ES" dirty="0"/>
                        <a:t>2. Hacer clic en "Entrar".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El sistema resalta los campos obligatorios y muestra: "Debe llenar los campos requeridos".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Validación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69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42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E70F02-32B7-4208-A7DB-40872BCA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b="1" dirty="0">
                <a:solidFill>
                  <a:srgbClr val="242424"/>
                </a:solidFill>
                <a:effectLst/>
                <a:latin typeface="Inter"/>
              </a:rPr>
              <a:t>Formato de caso de prueba estándar</a:t>
            </a:r>
            <a:br>
              <a:rPr lang="es-ES" b="1" dirty="0">
                <a:solidFill>
                  <a:srgbClr val="242424"/>
                </a:solidFill>
                <a:effectLst/>
                <a:latin typeface="Inter"/>
              </a:rPr>
            </a:br>
            <a:r>
              <a:rPr lang="es-ES" b="1" dirty="0">
                <a:solidFill>
                  <a:srgbClr val="242424"/>
                </a:solidFill>
                <a:effectLst/>
                <a:latin typeface="Inter"/>
              </a:rPr>
              <a:t>Evaluación</a:t>
            </a:r>
            <a:endParaRPr lang="es-ES" b="1" dirty="0">
              <a:solidFill>
                <a:srgbClr val="333333"/>
              </a:solidFill>
              <a:effectLst/>
              <a:latin typeface="Inter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3C7661-A40C-4FDB-A1F7-EACC6A2A1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Formato del caso de prueba: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 del caso de prueba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Escenario de prueba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Pasos de la prueba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previos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Datos de prueba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Resultados esperados/previstos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Resultados reales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 de la prueba: Aprobado/Reprobado</a:t>
            </a:r>
          </a:p>
        </p:txBody>
      </p:sp>
    </p:spTree>
    <p:extLst>
      <p:ext uri="{BB962C8B-B14F-4D97-AF65-F5344CB8AC3E}">
        <p14:creationId xmlns:p14="http://schemas.microsoft.com/office/powerpoint/2010/main" val="2945179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46CD60-1203-4F11-886B-08FA25CC2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-241717"/>
            <a:ext cx="8859520" cy="1054517"/>
          </a:xfrm>
        </p:spPr>
        <p:txBody>
          <a:bodyPr>
            <a:noAutofit/>
          </a:bodyPr>
          <a:lstStyle/>
          <a:p>
            <a:pPr algn="l"/>
            <a:r>
              <a:rPr lang="es-ES" sz="2400" b="1" dirty="0">
                <a:solidFill>
                  <a:srgbClr val="242424"/>
                </a:solidFill>
                <a:effectLst/>
                <a:latin typeface="Inter"/>
              </a:rPr>
              <a:t>Cómo escribir casos de prueba ( ejemplo de caso de prueba)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459E45-4008-436B-97B2-B03CAA91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812800"/>
            <a:ext cx="9533819" cy="5303520"/>
          </a:xfrm>
        </p:spPr>
        <p:txBody>
          <a:bodyPr>
            <a:normAutofit/>
          </a:bodyPr>
          <a:lstStyle/>
          <a:p>
            <a:pPr algn="just"/>
            <a:r>
              <a:rPr lang="es-ES" sz="24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 un ejemplo de caso de prueba basado en un escenario específico. Aquí tienes un ejemplo.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 del caso de prueba</a:t>
            </a:r>
            <a:r>
              <a:rPr lang="es-ES" sz="24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#BST001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Escenario de prueba</a:t>
            </a:r>
            <a:r>
              <a:rPr lang="es-ES" sz="24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Autenticar un inicio de sesión de usuario exitoso en Gmail.com.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Pasos de la prueba:</a:t>
            </a:r>
            <a:endParaRPr lang="es-ES" sz="2400" b="0" i="0" dirty="0">
              <a:solidFill>
                <a:srgbClr val="37415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usuario navega a Gmail.com.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usuario introduce una dirección de correo electrónico registrada en el campo 'correo electrónico'.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usuario hace clic en el botón 'Siguiente'.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usuario introduce la contraseña registrada.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2000" b="0" i="0" dirty="0">
                <a:solidFill>
                  <a:srgbClr val="37415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usuario hace clic en 'Iniciar sesión'.</a:t>
            </a:r>
          </a:p>
        </p:txBody>
      </p:sp>
    </p:spTree>
    <p:extLst>
      <p:ext uri="{BB962C8B-B14F-4D97-AF65-F5344CB8AC3E}">
        <p14:creationId xmlns:p14="http://schemas.microsoft.com/office/powerpoint/2010/main" val="216712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6472B-E557-4B0B-A1F3-250742FF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283054-53A6-429B-8A2A-0C91688D4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Requisitos previos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Una cuenta de Gmail registrada con un nombre de usuario y una contraseña únicos.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Navegador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Chrome Dispositivo, Lenovo.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Datos de prueba: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Nombre de usuario y contraseña válidos.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Resultados esperados: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Una vez introducidos el nombre de usuario y la contraseña, la página web redirige a la bandeja de entrada del usuario, mostrando y destacando los nuevos correos electrónicos en la parte superior.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Resultados reales: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Como se esperaba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Estado de la prueba: Aprobado/Reprobado</a:t>
            </a:r>
            <a:r>
              <a:rPr lang="es-E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: Aprobado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023136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D47E9-9E67-4735-95B7-388BDF996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Tarea en clase: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94962D-DB23-4F7B-B1A0-8FE871988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742169"/>
          </a:xfrm>
        </p:spPr>
        <p:txBody>
          <a:bodyPr>
            <a:normAutofit/>
          </a:bodyPr>
          <a:lstStyle/>
          <a:p>
            <a:r>
              <a:rPr lang="es-GT" dirty="0"/>
              <a:t>Instrucciones: En base a su proyecto realizar lo siguiente:</a:t>
            </a:r>
          </a:p>
          <a:p>
            <a:r>
              <a:rPr lang="es-GT" dirty="0"/>
              <a:t>1. Integrar los módulos a trabajar en su proyecto</a:t>
            </a:r>
          </a:p>
          <a:p>
            <a:r>
              <a:rPr lang="es-GT" dirty="0"/>
              <a:t>Ej. </a:t>
            </a:r>
            <a:r>
              <a:rPr lang="es-GT" dirty="0" err="1"/>
              <a:t>Login</a:t>
            </a:r>
            <a:r>
              <a:rPr lang="es-GT" dirty="0"/>
              <a:t>, Ingreso de Productos, Ingreso de datos, Registro de Datos, Facturación, etc.</a:t>
            </a:r>
          </a:p>
          <a:p>
            <a:r>
              <a:rPr lang="es-GT" dirty="0"/>
              <a:t>2. Realizar la planificación de pruebas a realizar. (Recuerde integrar este proceso a su diagrama de Gantt)</a:t>
            </a:r>
          </a:p>
          <a:p>
            <a:r>
              <a:rPr lang="es-GT" dirty="0"/>
              <a:t>**Cargar en PDF los documentos solicitados y actualizados.</a:t>
            </a:r>
          </a:p>
        </p:txBody>
      </p:sp>
    </p:spTree>
    <p:extLst>
      <p:ext uri="{BB962C8B-B14F-4D97-AF65-F5344CB8AC3E}">
        <p14:creationId xmlns:p14="http://schemas.microsoft.com/office/powerpoint/2010/main" val="1675893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76303-3EB4-4971-BBE6-39E2775A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Tarea Semanal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9ECC3F-98BA-40AD-B636-B3E22FB31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Instrucciones: </a:t>
            </a:r>
          </a:p>
          <a:p>
            <a:r>
              <a:rPr lang="es-GT" dirty="0"/>
              <a:t>1. Cargar un video donde se realice la prueba en la herramienta seleccionada para su proyecto tomando en cuenta que debe identificar el tipo de prueba (caja negra, blanca o gris)</a:t>
            </a:r>
          </a:p>
          <a:p>
            <a:r>
              <a:rPr lang="es-GT" dirty="0"/>
              <a:t>2. Cargar por lo menos de 2 módulos, recuerde que las pruebas pueden realizarse de en un prototipo con la prueba ágil .</a:t>
            </a:r>
          </a:p>
          <a:p>
            <a:r>
              <a:rPr lang="es-GT" dirty="0"/>
              <a:t>3. Cargar el documento donde contenga la prueba planificada y también el Formato de pruebas Estándar.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05330123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3234</TotalTime>
  <Words>833</Words>
  <Application>Microsoft Office PowerPoint</Application>
  <PresentationFormat>Panorámica</PresentationFormat>
  <Paragraphs>102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Google Sans</vt:lpstr>
      <vt:lpstr>Inter</vt:lpstr>
      <vt:lpstr>Noto Sans Symbols</vt:lpstr>
      <vt:lpstr>Retrospección</vt:lpstr>
      <vt:lpstr>Errores del Sistema </vt:lpstr>
      <vt:lpstr>Error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Casos de prueba</vt:lpstr>
      <vt:lpstr>Proceso de Pruebas </vt:lpstr>
      <vt:lpstr>Casos de Prueba</vt:lpstr>
      <vt:lpstr>Presentación de PowerPoint</vt:lpstr>
      <vt:lpstr>Presentación de PowerPoint</vt:lpstr>
      <vt:lpstr>Formato de caso de prueba estándar Evaluación</vt:lpstr>
      <vt:lpstr>Cómo escribir casos de prueba ( ejemplo de caso de prueba)</vt:lpstr>
      <vt:lpstr>Presentación de PowerPoint</vt:lpstr>
      <vt:lpstr>Tarea en clase: </vt:lpstr>
      <vt:lpstr>Tarea Semanal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Administración Estratégica de la Calidad</dc:title>
  <dc:creator>LENOVO</dc:creator>
  <cp:lastModifiedBy>LENOVO</cp:lastModifiedBy>
  <cp:revision>32</cp:revision>
  <dcterms:created xsi:type="dcterms:W3CDTF">2026-07-17T20:11:58Z</dcterms:created>
  <dcterms:modified xsi:type="dcterms:W3CDTF">2026-09-05T20:41:59Z</dcterms:modified>
</cp:coreProperties>
</file>